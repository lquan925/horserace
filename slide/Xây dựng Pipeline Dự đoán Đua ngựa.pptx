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Work Sans Bold" charset="1" panose="00000000000000000000"/>
      <p:regular r:id="rId16"/>
    </p:embeddedFont>
    <p:embeddedFont>
      <p:font typeface="Work Sans" charset="1" panose="00000000000000000000"/>
      <p:regular r:id="rId17"/>
    </p:embeddedFont>
    <p:embeddedFont>
      <p:font typeface="Touvlo" charset="1" panose="020B0604030403020204"/>
      <p:regular r:id="rId18"/>
    </p:embeddedFont>
    <p:embeddedFont>
      <p:font typeface="Noto Sans Bold" charset="1" panose="020B0802040504020204"/>
      <p:regular r:id="rId19"/>
    </p:embeddedFont>
    <p:embeddedFont>
      <p:font typeface="Noto Sans" charset="1" panose="020B0502040504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3.png" Type="http://schemas.openxmlformats.org/officeDocument/2006/relationships/image"/><Relationship Id="rId8" Target="../embeddings/oleObject1.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13573" y="3522604"/>
            <a:ext cx="7841377" cy="7125851"/>
          </a:xfrm>
          <a:custGeom>
            <a:avLst/>
            <a:gdLst/>
            <a:ahLst/>
            <a:cxnLst/>
            <a:rect r="r" b="b" t="t" l="l"/>
            <a:pathLst>
              <a:path h="7125851" w="7841377">
                <a:moveTo>
                  <a:pt x="0" y="0"/>
                </a:moveTo>
                <a:lnTo>
                  <a:pt x="7841377" y="0"/>
                </a:lnTo>
                <a:lnTo>
                  <a:pt x="7841377" y="7125851"/>
                </a:lnTo>
                <a:lnTo>
                  <a:pt x="0" y="7125851"/>
                </a:lnTo>
                <a:lnTo>
                  <a:pt x="0" y="0"/>
                </a:lnTo>
                <a:close/>
              </a:path>
            </a:pathLst>
          </a:custGeom>
          <a:blipFill>
            <a:blip r:embed="rId2"/>
            <a:stretch>
              <a:fillRect l="0" t="0" r="0" b="0"/>
            </a:stretch>
          </a:blipFill>
        </p:spPr>
      </p:sp>
      <p:sp>
        <p:nvSpPr>
          <p:cNvPr name="Freeform 3" id="3"/>
          <p:cNvSpPr/>
          <p:nvPr/>
        </p:nvSpPr>
        <p:spPr>
          <a:xfrm flipH="true" flipV="false" rot="0">
            <a:off x="9370015" y="0"/>
            <a:ext cx="8917985" cy="3522604"/>
          </a:xfrm>
          <a:custGeom>
            <a:avLst/>
            <a:gdLst/>
            <a:ahLst/>
            <a:cxnLst/>
            <a:rect r="r" b="b" t="t" l="l"/>
            <a:pathLst>
              <a:path h="3522604" w="8917985">
                <a:moveTo>
                  <a:pt x="8917985" y="0"/>
                </a:moveTo>
                <a:lnTo>
                  <a:pt x="0" y="0"/>
                </a:lnTo>
                <a:lnTo>
                  <a:pt x="0" y="3522604"/>
                </a:lnTo>
                <a:lnTo>
                  <a:pt x="8917985" y="3522604"/>
                </a:lnTo>
                <a:lnTo>
                  <a:pt x="891798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300364" y="6533655"/>
            <a:ext cx="4987636" cy="4114800"/>
          </a:xfrm>
          <a:custGeom>
            <a:avLst/>
            <a:gdLst/>
            <a:ahLst/>
            <a:cxnLst/>
            <a:rect r="r" b="b" t="t" l="l"/>
            <a:pathLst>
              <a:path h="4114800" w="4987636">
                <a:moveTo>
                  <a:pt x="0" y="0"/>
                </a:moveTo>
                <a:lnTo>
                  <a:pt x="4987636" y="0"/>
                </a:lnTo>
                <a:lnTo>
                  <a:pt x="498763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772234" y="4043040"/>
            <a:ext cx="15195561" cy="3042490"/>
          </a:xfrm>
          <a:prstGeom prst="rect">
            <a:avLst/>
          </a:prstGeom>
        </p:spPr>
        <p:txBody>
          <a:bodyPr anchor="t" rtlCol="false" tIns="0" lIns="0" bIns="0" rIns="0">
            <a:spAutoFit/>
          </a:bodyPr>
          <a:lstStyle/>
          <a:p>
            <a:pPr algn="ctr">
              <a:lnSpc>
                <a:spcPts val="6910"/>
              </a:lnSpc>
            </a:pPr>
            <a:r>
              <a:rPr lang="en-US" b="true" sz="6775">
                <a:solidFill>
                  <a:srgbClr val="1C4398"/>
                </a:solidFill>
                <a:latin typeface="Work Sans Bold"/>
                <a:ea typeface="Work Sans Bold"/>
                <a:cs typeface="Work Sans Bold"/>
                <a:sym typeface="Work Sans Bold"/>
              </a:rPr>
              <a:t>XÂY DỰNG PIPELINE DỰ ĐOÁN ĐUA NGỰA</a:t>
            </a:r>
          </a:p>
          <a:p>
            <a:pPr algn="l" marL="0" indent="0" lvl="1">
              <a:lnSpc>
                <a:spcPts val="9597"/>
              </a:lnSpc>
              <a:spcBef>
                <a:spcPct val="0"/>
              </a:spcBef>
            </a:pPr>
          </a:p>
        </p:txBody>
      </p:sp>
      <p:sp>
        <p:nvSpPr>
          <p:cNvPr name="TextBox 6" id="6"/>
          <p:cNvSpPr txBox="true"/>
          <p:nvPr/>
        </p:nvSpPr>
        <p:spPr>
          <a:xfrm rot="0">
            <a:off x="3607116" y="6053952"/>
            <a:ext cx="5638995" cy="479704"/>
          </a:xfrm>
          <a:prstGeom prst="rect">
            <a:avLst/>
          </a:prstGeom>
        </p:spPr>
        <p:txBody>
          <a:bodyPr anchor="t" rtlCol="false" tIns="0" lIns="0" bIns="0" rIns="0">
            <a:spAutoFit/>
          </a:bodyPr>
          <a:lstStyle/>
          <a:p>
            <a:pPr algn="l">
              <a:lnSpc>
                <a:spcPts val="3554"/>
              </a:lnSpc>
            </a:pPr>
            <a:r>
              <a:rPr lang="en-US" sz="3484">
                <a:solidFill>
                  <a:srgbClr val="000000"/>
                </a:solidFill>
                <a:latin typeface="Work Sans"/>
                <a:ea typeface="Work Sans"/>
                <a:cs typeface="Work Sans"/>
                <a:sym typeface="Work Sans"/>
              </a:rPr>
              <a:t>By:</a:t>
            </a:r>
            <a:r>
              <a:rPr lang="en-US" sz="3484">
                <a:solidFill>
                  <a:srgbClr val="000000"/>
                </a:solidFill>
                <a:latin typeface="Work Sans"/>
                <a:ea typeface="Work Sans"/>
                <a:cs typeface="Work Sans"/>
                <a:sym typeface="Work Sans"/>
              </a:rPr>
              <a:t> Horses Group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2012566" y="-398454"/>
            <a:ext cx="7315200" cy="3904488"/>
          </a:xfrm>
          <a:custGeom>
            <a:avLst/>
            <a:gdLst/>
            <a:ahLst/>
            <a:cxnLst/>
            <a:rect r="r" b="b" t="t" l="l"/>
            <a:pathLst>
              <a:path h="3904488" w="7315200">
                <a:moveTo>
                  <a:pt x="7315200" y="3904488"/>
                </a:moveTo>
                <a:lnTo>
                  <a:pt x="0" y="3904488"/>
                </a:lnTo>
                <a:lnTo>
                  <a:pt x="0" y="0"/>
                </a:lnTo>
                <a:lnTo>
                  <a:pt x="7315200" y="0"/>
                </a:lnTo>
                <a:lnTo>
                  <a:pt x="7315200" y="390448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2486827" y="-1631251"/>
            <a:ext cx="7674798" cy="6370082"/>
          </a:xfrm>
          <a:custGeom>
            <a:avLst/>
            <a:gdLst/>
            <a:ahLst/>
            <a:cxnLst/>
            <a:rect r="r" b="b" t="t" l="l"/>
            <a:pathLst>
              <a:path h="6370082" w="7674798">
                <a:moveTo>
                  <a:pt x="0" y="6370083"/>
                </a:moveTo>
                <a:lnTo>
                  <a:pt x="7674798" y="6370083"/>
                </a:lnTo>
                <a:lnTo>
                  <a:pt x="7674798" y="0"/>
                </a:lnTo>
                <a:lnTo>
                  <a:pt x="0" y="0"/>
                </a:lnTo>
                <a:lnTo>
                  <a:pt x="0" y="6370083"/>
                </a:lnTo>
                <a:close/>
              </a:path>
            </a:pathLst>
          </a:custGeom>
          <a:blipFill>
            <a:blip r:embed="rId4"/>
            <a:stretch>
              <a:fillRect l="0" t="0" r="0" b="0"/>
            </a:stretch>
          </a:blipFill>
        </p:spPr>
      </p:sp>
      <p:sp>
        <p:nvSpPr>
          <p:cNvPr name="TextBox 4" id="4"/>
          <p:cNvSpPr txBox="true"/>
          <p:nvPr/>
        </p:nvSpPr>
        <p:spPr>
          <a:xfrm rot="0">
            <a:off x="6534919" y="2750995"/>
            <a:ext cx="9315310" cy="5556503"/>
          </a:xfrm>
          <a:prstGeom prst="rect">
            <a:avLst/>
          </a:prstGeom>
        </p:spPr>
        <p:txBody>
          <a:bodyPr anchor="t" rtlCol="false" tIns="0" lIns="0" bIns="0" rIns="0">
            <a:spAutoFit/>
          </a:bodyPr>
          <a:lstStyle/>
          <a:p>
            <a:pPr algn="l">
              <a:lnSpc>
                <a:spcPts val="4011"/>
              </a:lnSpc>
            </a:pPr>
            <a:r>
              <a:rPr lang="en-US" sz="2865" b="true">
                <a:solidFill>
                  <a:srgbClr val="000000"/>
                </a:solidFill>
                <a:latin typeface="Work Sans Bold"/>
                <a:ea typeface="Work Sans Bold"/>
                <a:cs typeface="Work Sans Bold"/>
                <a:sym typeface="Work Sans Bold"/>
              </a:rPr>
              <a:t>Mục tiêu 1:</a:t>
            </a:r>
            <a:r>
              <a:rPr lang="en-US" sz="2865">
                <a:solidFill>
                  <a:srgbClr val="000000"/>
                </a:solidFill>
                <a:latin typeface="Work Sans"/>
                <a:ea typeface="Work Sans"/>
                <a:cs typeface="Work Sans"/>
                <a:sym typeface="Work Sans"/>
              </a:rPr>
              <a:t> </a:t>
            </a:r>
            <a:r>
              <a:rPr lang="en-US" sz="2865">
                <a:solidFill>
                  <a:srgbClr val="000000"/>
                </a:solidFill>
                <a:latin typeface="Work Sans"/>
                <a:ea typeface="Work Sans"/>
                <a:cs typeface="Work Sans"/>
                <a:sym typeface="Work Sans"/>
              </a:rPr>
              <a:t>Xây dựng bài toán phân loại nhị phân: Dự đoán xem một con ngựa có xếp hạng Top 3 (hạng 1, 2 hoặc 3) trong một cuộc đua hay không. Nhãn target_top_3 = 1 nếu finish_position ∈ {1, 2, 3}, ngược lại bằng 0.</a:t>
            </a:r>
          </a:p>
          <a:p>
            <a:pPr algn="l">
              <a:lnSpc>
                <a:spcPts val="4011"/>
              </a:lnSpc>
            </a:pPr>
          </a:p>
          <a:p>
            <a:pPr algn="l" marL="0" indent="0" lvl="1">
              <a:lnSpc>
                <a:spcPts val="4011"/>
              </a:lnSpc>
              <a:spcBef>
                <a:spcPct val="0"/>
              </a:spcBef>
            </a:pPr>
            <a:r>
              <a:rPr lang="en-US" b="true" sz="2865">
                <a:solidFill>
                  <a:srgbClr val="000000"/>
                </a:solidFill>
                <a:latin typeface="Work Sans Bold"/>
                <a:ea typeface="Work Sans Bold"/>
                <a:cs typeface="Work Sans Bold"/>
                <a:sym typeface="Work Sans Bold"/>
              </a:rPr>
              <a:t>Mục tiêu 2</a:t>
            </a:r>
            <a:r>
              <a:rPr lang="en-US" sz="2865">
                <a:solidFill>
                  <a:srgbClr val="000000"/>
                </a:solidFill>
                <a:latin typeface="Work Sans"/>
                <a:ea typeface="Work Sans"/>
                <a:cs typeface="Work Sans"/>
                <a:sym typeface="Work Sans"/>
              </a:rPr>
              <a:t>: Đánh giá hiệu quả mô hình trong bối cảnh thực tế: Sử dụng chiến lược Threshold Tuning (điều chỉnh ngưỡng quyết định) để tối ưu hóa độ chính xác (Precision) cho bài toán ứng dụng thực tế là chọn ngựa để đặt cược.</a:t>
            </a:r>
          </a:p>
        </p:txBody>
      </p:sp>
      <p:sp>
        <p:nvSpPr>
          <p:cNvPr name="Freeform 5" id="5"/>
          <p:cNvSpPr/>
          <p:nvPr/>
        </p:nvSpPr>
        <p:spPr>
          <a:xfrm flipH="false" flipV="false" rot="0">
            <a:off x="12287157" y="8307498"/>
            <a:ext cx="7903394" cy="2766188"/>
          </a:xfrm>
          <a:custGeom>
            <a:avLst/>
            <a:gdLst/>
            <a:ahLst/>
            <a:cxnLst/>
            <a:rect r="r" b="b" t="t" l="l"/>
            <a:pathLst>
              <a:path h="2766188" w="7903394">
                <a:moveTo>
                  <a:pt x="0" y="0"/>
                </a:moveTo>
                <a:lnTo>
                  <a:pt x="7903394" y="0"/>
                </a:lnTo>
                <a:lnTo>
                  <a:pt x="7903394" y="2766188"/>
                </a:lnTo>
                <a:lnTo>
                  <a:pt x="0" y="27661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398605" y="2197878"/>
            <a:ext cx="3881350" cy="6109620"/>
          </a:xfrm>
          <a:custGeom>
            <a:avLst/>
            <a:gdLst/>
            <a:ahLst/>
            <a:cxnLst/>
            <a:rect r="r" b="b" t="t" l="l"/>
            <a:pathLst>
              <a:path h="6109620" w="3881350">
                <a:moveTo>
                  <a:pt x="0" y="0"/>
                </a:moveTo>
                <a:lnTo>
                  <a:pt x="3881350" y="0"/>
                </a:lnTo>
                <a:lnTo>
                  <a:pt x="3881350" y="6109620"/>
                </a:lnTo>
                <a:lnTo>
                  <a:pt x="0" y="6109620"/>
                </a:lnTo>
                <a:lnTo>
                  <a:pt x="0" y="0"/>
                </a:lnTo>
                <a:close/>
              </a:path>
            </a:pathLst>
          </a:custGeom>
          <a:blipFill>
            <a:blip r:embed="rId7"/>
            <a:stretch>
              <a:fillRect l="-2469" t="0" r="-2469" b="0"/>
            </a:stretch>
          </a:blipFill>
        </p:spPr>
      </p:sp>
      <p:sp>
        <p:nvSpPr>
          <p:cNvPr name="TextBox 7" id="7"/>
          <p:cNvSpPr txBox="true"/>
          <p:nvPr/>
        </p:nvSpPr>
        <p:spPr>
          <a:xfrm rot="0">
            <a:off x="6534919" y="2076069"/>
            <a:ext cx="5087614" cy="751126"/>
          </a:xfrm>
          <a:prstGeom prst="rect">
            <a:avLst/>
          </a:prstGeom>
        </p:spPr>
        <p:txBody>
          <a:bodyPr anchor="t" rtlCol="false" tIns="0" lIns="0" bIns="0" rIns="0">
            <a:spAutoFit/>
          </a:bodyPr>
          <a:lstStyle/>
          <a:p>
            <a:pPr algn="l" marL="0" indent="0" lvl="1">
              <a:lnSpc>
                <a:spcPts val="5632"/>
              </a:lnSpc>
              <a:spcBef>
                <a:spcPct val="0"/>
              </a:spcBef>
            </a:pPr>
            <a:r>
              <a:rPr lang="en-US" sz="5747">
                <a:solidFill>
                  <a:srgbClr val="1C4398"/>
                </a:solidFill>
                <a:latin typeface="Touvlo"/>
                <a:ea typeface="Touvlo"/>
                <a:cs typeface="Touvlo"/>
                <a:sym typeface="Touvlo"/>
              </a:rPr>
              <a:t>Mục</a:t>
            </a:r>
            <a:r>
              <a:rPr lang="en-US" sz="5747">
                <a:solidFill>
                  <a:srgbClr val="1C4398"/>
                </a:solidFill>
                <a:latin typeface="Touvlo"/>
                <a:ea typeface="Touvlo"/>
                <a:cs typeface="Touvlo"/>
                <a:sym typeface="Touvlo"/>
              </a:rPr>
              <a:t> tiêu</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318803" y="-193276"/>
            <a:ext cx="7674798" cy="6370082"/>
          </a:xfrm>
          <a:custGeom>
            <a:avLst/>
            <a:gdLst/>
            <a:ahLst/>
            <a:cxnLst/>
            <a:rect r="r" b="b" t="t" l="l"/>
            <a:pathLst>
              <a:path h="6370082" w="7674798">
                <a:moveTo>
                  <a:pt x="0" y="6370083"/>
                </a:moveTo>
                <a:lnTo>
                  <a:pt x="7674798" y="6370083"/>
                </a:lnTo>
                <a:lnTo>
                  <a:pt x="7674798" y="0"/>
                </a:lnTo>
                <a:lnTo>
                  <a:pt x="0" y="0"/>
                </a:lnTo>
                <a:lnTo>
                  <a:pt x="0" y="6370083"/>
                </a:lnTo>
                <a:close/>
              </a:path>
            </a:pathLst>
          </a:custGeom>
          <a:blipFill>
            <a:blip r:embed="rId2"/>
            <a:stretch>
              <a:fillRect l="0" t="0" r="0" b="0"/>
            </a:stretch>
          </a:blipFill>
        </p:spPr>
      </p:sp>
      <p:sp>
        <p:nvSpPr>
          <p:cNvPr name="Freeform 3" id="3"/>
          <p:cNvSpPr/>
          <p:nvPr/>
        </p:nvSpPr>
        <p:spPr>
          <a:xfrm flipH="false" flipV="false" rot="0">
            <a:off x="10384606" y="7520812"/>
            <a:ext cx="7903394" cy="2766188"/>
          </a:xfrm>
          <a:custGeom>
            <a:avLst/>
            <a:gdLst/>
            <a:ahLst/>
            <a:cxnLst/>
            <a:rect r="r" b="b" t="t" l="l"/>
            <a:pathLst>
              <a:path h="2766188" w="7903394">
                <a:moveTo>
                  <a:pt x="0" y="0"/>
                </a:moveTo>
                <a:lnTo>
                  <a:pt x="7903394" y="0"/>
                </a:lnTo>
                <a:lnTo>
                  <a:pt x="7903394" y="2766188"/>
                </a:lnTo>
                <a:lnTo>
                  <a:pt x="0" y="27661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068789" y="2395034"/>
            <a:ext cx="10150422" cy="968737"/>
          </a:xfrm>
          <a:prstGeom prst="rect">
            <a:avLst/>
          </a:prstGeom>
        </p:spPr>
        <p:txBody>
          <a:bodyPr anchor="t" rtlCol="false" tIns="0" lIns="0" bIns="0" rIns="0">
            <a:spAutoFit/>
          </a:bodyPr>
          <a:lstStyle/>
          <a:p>
            <a:pPr algn="l" marL="0" indent="0" lvl="1">
              <a:lnSpc>
                <a:spcPts val="7251"/>
              </a:lnSpc>
              <a:spcBef>
                <a:spcPct val="0"/>
              </a:spcBef>
            </a:pPr>
            <a:r>
              <a:rPr lang="en-US" sz="7399">
                <a:solidFill>
                  <a:srgbClr val="1C4398"/>
                </a:solidFill>
                <a:latin typeface="Touvlo"/>
                <a:ea typeface="Touvlo"/>
                <a:cs typeface="Touvlo"/>
                <a:sym typeface="Touvlo"/>
              </a:rPr>
              <a:t>Câu hỏi nghiên cứu</a:t>
            </a:r>
          </a:p>
        </p:txBody>
      </p:sp>
      <p:sp>
        <p:nvSpPr>
          <p:cNvPr name="TextBox 5" id="5"/>
          <p:cNvSpPr txBox="true"/>
          <p:nvPr/>
        </p:nvSpPr>
        <p:spPr>
          <a:xfrm rot="0">
            <a:off x="3518596" y="3635556"/>
            <a:ext cx="11440022" cy="5184194"/>
          </a:xfrm>
          <a:prstGeom prst="rect">
            <a:avLst/>
          </a:prstGeom>
        </p:spPr>
        <p:txBody>
          <a:bodyPr anchor="t" rtlCol="false" tIns="0" lIns="0" bIns="0" rIns="0">
            <a:spAutoFit/>
          </a:bodyPr>
          <a:lstStyle/>
          <a:p>
            <a:pPr algn="l">
              <a:lnSpc>
                <a:spcPts val="4100"/>
              </a:lnSpc>
              <a:spcBef>
                <a:spcPct val="0"/>
              </a:spcBef>
            </a:pPr>
          </a:p>
          <a:p>
            <a:pPr algn="l" marL="903271" indent="-451636" lvl="1">
              <a:lnSpc>
                <a:spcPts val="4100"/>
              </a:lnSpc>
              <a:spcBef>
                <a:spcPct val="0"/>
              </a:spcBef>
              <a:buFont typeface="Arial"/>
              <a:buChar char="•"/>
            </a:pPr>
            <a:r>
              <a:rPr lang="en-US" sz="4183" strike="noStrike" u="none">
                <a:solidFill>
                  <a:srgbClr val="1C4398"/>
                </a:solidFill>
                <a:latin typeface="Work Sans"/>
                <a:ea typeface="Work Sans"/>
                <a:cs typeface="Work Sans"/>
                <a:sym typeface="Work Sans"/>
              </a:rPr>
              <a:t>Làm sao để chuẩn hóa dữ liệu với nhiều ngoại lai (Outliers) như Odds?</a:t>
            </a:r>
          </a:p>
          <a:p>
            <a:pPr algn="l">
              <a:lnSpc>
                <a:spcPts val="4100"/>
              </a:lnSpc>
              <a:spcBef>
                <a:spcPct val="0"/>
              </a:spcBef>
            </a:pPr>
          </a:p>
          <a:p>
            <a:pPr algn="l" marL="903271" indent="-451636" lvl="1">
              <a:lnSpc>
                <a:spcPts val="4100"/>
              </a:lnSpc>
              <a:spcBef>
                <a:spcPct val="0"/>
              </a:spcBef>
              <a:buFont typeface="Arial"/>
              <a:buChar char="•"/>
            </a:pPr>
            <a:r>
              <a:rPr lang="en-US" sz="4183" strike="noStrike" u="none">
                <a:solidFill>
                  <a:srgbClr val="1C4398"/>
                </a:solidFill>
                <a:latin typeface="Work Sans"/>
                <a:ea typeface="Work Sans"/>
                <a:cs typeface="Work Sans"/>
                <a:sym typeface="Work Sans"/>
              </a:rPr>
              <a:t>Mô hình XGBoost có thể đạt Precision bao nhiêu khi dự đoán Top 3?</a:t>
            </a:r>
          </a:p>
          <a:p>
            <a:pPr algn="l">
              <a:lnSpc>
                <a:spcPts val="4100"/>
              </a:lnSpc>
              <a:spcBef>
                <a:spcPct val="0"/>
              </a:spcBef>
            </a:pPr>
          </a:p>
          <a:p>
            <a:pPr algn="l" marL="903271" indent="-451636" lvl="1">
              <a:lnSpc>
                <a:spcPts val="4100"/>
              </a:lnSpc>
              <a:spcBef>
                <a:spcPct val="0"/>
              </a:spcBef>
              <a:buFont typeface="Arial"/>
              <a:buChar char="•"/>
            </a:pPr>
            <a:r>
              <a:rPr lang="en-US" sz="4183" strike="noStrike" u="none">
                <a:solidFill>
                  <a:srgbClr val="1C4398"/>
                </a:solidFill>
                <a:latin typeface="Work Sans"/>
                <a:ea typeface="Work Sans"/>
                <a:cs typeface="Work Sans"/>
                <a:sym typeface="Work Sans"/>
              </a:rPr>
              <a:t>Chiến thuật đặt cược dựa trên ngưỡng tự tin của AI như thế nào?</a:t>
            </a:r>
          </a:p>
          <a:p>
            <a:pPr algn="l">
              <a:lnSpc>
                <a:spcPts val="4100"/>
              </a:lnSpc>
              <a:spcBef>
                <a:spcPct val="0"/>
              </a:spcBef>
            </a:pPr>
          </a:p>
        </p:txBody>
      </p:sp>
      <p:sp>
        <p:nvSpPr>
          <p:cNvPr name="Freeform 6" id="6"/>
          <p:cNvSpPr/>
          <p:nvPr/>
        </p:nvSpPr>
        <p:spPr>
          <a:xfrm flipH="true" flipV="true" rot="0">
            <a:off x="10972800" y="0"/>
            <a:ext cx="7315200" cy="3904488"/>
          </a:xfrm>
          <a:custGeom>
            <a:avLst/>
            <a:gdLst/>
            <a:ahLst/>
            <a:cxnLst/>
            <a:rect r="r" b="b" t="t" l="l"/>
            <a:pathLst>
              <a:path h="3904488" w="7315200">
                <a:moveTo>
                  <a:pt x="7315200" y="3904488"/>
                </a:moveTo>
                <a:lnTo>
                  <a:pt x="0" y="3904488"/>
                </a:lnTo>
                <a:lnTo>
                  <a:pt x="0" y="0"/>
                </a:lnTo>
                <a:lnTo>
                  <a:pt x="7315200" y="0"/>
                </a:lnTo>
                <a:lnTo>
                  <a:pt x="7315200" y="3904488"/>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2034689" y="-633942"/>
            <a:ext cx="7315200" cy="3904488"/>
          </a:xfrm>
          <a:custGeom>
            <a:avLst/>
            <a:gdLst/>
            <a:ahLst/>
            <a:cxnLst/>
            <a:rect r="r" b="b" t="t" l="l"/>
            <a:pathLst>
              <a:path h="3904488" w="7315200">
                <a:moveTo>
                  <a:pt x="7315200" y="3904488"/>
                </a:moveTo>
                <a:lnTo>
                  <a:pt x="0" y="3904488"/>
                </a:lnTo>
                <a:lnTo>
                  <a:pt x="0" y="0"/>
                </a:lnTo>
                <a:lnTo>
                  <a:pt x="7315200" y="0"/>
                </a:lnTo>
                <a:lnTo>
                  <a:pt x="7315200" y="390448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867391" y="-952101"/>
            <a:ext cx="7674798" cy="6370082"/>
          </a:xfrm>
          <a:custGeom>
            <a:avLst/>
            <a:gdLst/>
            <a:ahLst/>
            <a:cxnLst/>
            <a:rect r="r" b="b" t="t" l="l"/>
            <a:pathLst>
              <a:path h="6370082" w="7674798">
                <a:moveTo>
                  <a:pt x="0" y="6370083"/>
                </a:moveTo>
                <a:lnTo>
                  <a:pt x="7674798" y="6370083"/>
                </a:lnTo>
                <a:lnTo>
                  <a:pt x="7674798" y="0"/>
                </a:lnTo>
                <a:lnTo>
                  <a:pt x="0" y="0"/>
                </a:lnTo>
                <a:lnTo>
                  <a:pt x="0" y="6370083"/>
                </a:lnTo>
                <a:close/>
              </a:path>
            </a:pathLst>
          </a:custGeom>
          <a:blipFill>
            <a:blip r:embed="rId4"/>
            <a:stretch>
              <a:fillRect l="0" t="0" r="0" b="0"/>
            </a:stretch>
          </a:blipFill>
        </p:spPr>
      </p:sp>
      <p:sp>
        <p:nvSpPr>
          <p:cNvPr name="Freeform 4" id="4"/>
          <p:cNvSpPr/>
          <p:nvPr/>
        </p:nvSpPr>
        <p:spPr>
          <a:xfrm flipH="false" flipV="false" rot="0">
            <a:off x="11446495" y="8305901"/>
            <a:ext cx="7903394" cy="2766188"/>
          </a:xfrm>
          <a:custGeom>
            <a:avLst/>
            <a:gdLst/>
            <a:ahLst/>
            <a:cxnLst/>
            <a:rect r="r" b="b" t="t" l="l"/>
            <a:pathLst>
              <a:path h="2766188" w="7903394">
                <a:moveTo>
                  <a:pt x="0" y="0"/>
                </a:moveTo>
                <a:lnTo>
                  <a:pt x="7903394" y="0"/>
                </a:lnTo>
                <a:lnTo>
                  <a:pt x="7903394" y="2766188"/>
                </a:lnTo>
                <a:lnTo>
                  <a:pt x="0" y="27661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2552429" y="3213396"/>
            <a:ext cx="13183143" cy="5025125"/>
          </a:xfrm>
          <a:prstGeom prst="rect">
            <a:avLst/>
          </a:prstGeom>
        </p:spPr>
        <p:txBody>
          <a:bodyPr anchor="t" rtlCol="false" tIns="0" lIns="0" bIns="0" rIns="0">
            <a:spAutoFit/>
          </a:bodyPr>
          <a:lstStyle/>
          <a:p>
            <a:pPr algn="l">
              <a:lnSpc>
                <a:spcPts val="3374"/>
              </a:lnSpc>
            </a:pPr>
            <a:r>
              <a:rPr lang="en-US" sz="2410" b="true">
                <a:solidFill>
                  <a:srgbClr val="000000"/>
                </a:solidFill>
                <a:latin typeface="Work Sans Bold"/>
                <a:ea typeface="Work Sans Bold"/>
                <a:cs typeface="Work Sans Bold"/>
                <a:sym typeface="Work Sans Bold"/>
              </a:rPr>
              <a:t>1. Thu thập và Hợp nhất dữ liệu (Data Integration)</a:t>
            </a:r>
          </a:p>
          <a:p>
            <a:pPr algn="l" marL="520412" indent="-260206" lvl="1">
              <a:lnSpc>
                <a:spcPts val="3374"/>
              </a:lnSpc>
              <a:buFont typeface="Arial"/>
              <a:buChar char="•"/>
            </a:pPr>
            <a:r>
              <a:rPr lang="en-US" sz="2410">
                <a:solidFill>
                  <a:srgbClr val="000000"/>
                </a:solidFill>
                <a:latin typeface="Work Sans"/>
                <a:ea typeface="Work Sans"/>
                <a:cs typeface="Work Sans"/>
                <a:sym typeface="Work Sans"/>
              </a:rPr>
              <a:t>Nguồn dữ liệu: Các tập tin sử dụng (races.csv, runners.csv, odds.csv, race_results.csv).</a:t>
            </a:r>
          </a:p>
          <a:p>
            <a:pPr algn="l" marL="520412" indent="-260206" lvl="1">
              <a:lnSpc>
                <a:spcPts val="3374"/>
              </a:lnSpc>
              <a:buFont typeface="Arial"/>
              <a:buChar char="•"/>
            </a:pPr>
            <a:r>
              <a:rPr lang="en-US" sz="2410">
                <a:solidFill>
                  <a:srgbClr val="000000"/>
                </a:solidFill>
                <a:latin typeface="Work Sans"/>
                <a:ea typeface="Work Sans"/>
                <a:cs typeface="Work Sans"/>
                <a:sym typeface="Work Sans"/>
              </a:rPr>
              <a:t>Hợp nhất (Merging): Hợp nhất dữ liệu thành 1 bảng</a:t>
            </a:r>
          </a:p>
          <a:p>
            <a:pPr algn="l">
              <a:lnSpc>
                <a:spcPts val="3374"/>
              </a:lnSpc>
            </a:pPr>
            <a:r>
              <a:rPr lang="en-US" sz="2410" b="true">
                <a:solidFill>
                  <a:srgbClr val="000000"/>
                </a:solidFill>
                <a:latin typeface="Work Sans Bold"/>
                <a:ea typeface="Work Sans Bold"/>
                <a:cs typeface="Work Sans Bold"/>
                <a:sym typeface="Work Sans Bold"/>
              </a:rPr>
              <a:t>2. Tiền xử lý dữ liệu (Data Preprocessing)</a:t>
            </a:r>
          </a:p>
          <a:p>
            <a:pPr algn="l" marL="520412" indent="-260206" lvl="1">
              <a:lnSpc>
                <a:spcPts val="3374"/>
              </a:lnSpc>
              <a:buFont typeface="Arial"/>
              <a:buChar char="•"/>
            </a:pPr>
            <a:r>
              <a:rPr lang="en-US" sz="2410">
                <a:solidFill>
                  <a:srgbClr val="000000"/>
                </a:solidFill>
                <a:latin typeface="Work Sans"/>
                <a:ea typeface="Work Sans"/>
                <a:cs typeface="Work Sans"/>
                <a:sym typeface="Work Sans"/>
              </a:rPr>
              <a:t>Định nghĩa nhãn (Target Engineering): Cách chuyển đổi hạng về đích (finish_position) thành bài toán phân loại nhị phân (1 nếu hạng 1-3, 0 nếu ngược lại).</a:t>
            </a:r>
          </a:p>
          <a:p>
            <a:pPr algn="l" marL="520412" indent="-260206" lvl="1">
              <a:lnSpc>
                <a:spcPts val="3374"/>
              </a:lnSpc>
              <a:buFont typeface="Arial"/>
              <a:buChar char="•"/>
            </a:pPr>
            <a:r>
              <a:rPr lang="en-US" sz="2410">
                <a:solidFill>
                  <a:srgbClr val="000000"/>
                </a:solidFill>
                <a:latin typeface="Work Sans"/>
                <a:ea typeface="Work Sans"/>
                <a:cs typeface="Work Sans"/>
                <a:sym typeface="Work Sans"/>
              </a:rPr>
              <a:t>Xử lý dữ liệu thiếu (Handling Missing Values): Sử dụng các kỹ thuật như điền bằng giá trị trung vị (median) và trung bình (mean).</a:t>
            </a:r>
          </a:p>
          <a:p>
            <a:pPr algn="l" marL="520412" indent="-260206" lvl="1">
              <a:lnSpc>
                <a:spcPts val="3374"/>
              </a:lnSpc>
              <a:buFont typeface="Arial"/>
              <a:buChar char="•"/>
            </a:pPr>
            <a:r>
              <a:rPr lang="en-US" sz="2410">
                <a:solidFill>
                  <a:srgbClr val="000000"/>
                </a:solidFill>
                <a:latin typeface="Work Sans"/>
                <a:ea typeface="Work Sans"/>
                <a:cs typeface="Work Sans"/>
                <a:sym typeface="Work Sans"/>
              </a:rPr>
              <a:t>Lọc dữ liệu: Loại bỏ các trường hợp ngựa bị hủy thi đấu (scratch) để đảm bảo tính khách quan.</a:t>
            </a:r>
          </a:p>
          <a:p>
            <a:pPr algn="l">
              <a:lnSpc>
                <a:spcPts val="3374"/>
              </a:lnSpc>
            </a:pPr>
          </a:p>
        </p:txBody>
      </p:sp>
      <p:sp>
        <p:nvSpPr>
          <p:cNvPr name="TextBox 6" id="6"/>
          <p:cNvSpPr txBox="true"/>
          <p:nvPr/>
        </p:nvSpPr>
        <p:spPr>
          <a:xfrm rot="0">
            <a:off x="2575284" y="2128165"/>
            <a:ext cx="13160288" cy="863600"/>
          </a:xfrm>
          <a:prstGeom prst="rect">
            <a:avLst/>
          </a:prstGeom>
        </p:spPr>
        <p:txBody>
          <a:bodyPr anchor="t" rtlCol="false" tIns="0" lIns="0" bIns="0" rIns="0">
            <a:spAutoFit/>
          </a:bodyPr>
          <a:lstStyle/>
          <a:p>
            <a:pPr algn="ctr">
              <a:lnSpc>
                <a:spcPts val="7000"/>
              </a:lnSpc>
            </a:pPr>
            <a:r>
              <a:rPr lang="en-US" sz="5000" b="true">
                <a:solidFill>
                  <a:srgbClr val="000000"/>
                </a:solidFill>
                <a:latin typeface="Noto Sans Bold"/>
                <a:ea typeface="Noto Sans Bold"/>
                <a:cs typeface="Noto Sans Bold"/>
                <a:sym typeface="Noto Sans Bold"/>
              </a:rPr>
              <a:t>Thu thập và tiền xử lý dữ liệu</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2060044" y="-923544"/>
            <a:ext cx="7315200" cy="3904488"/>
          </a:xfrm>
          <a:custGeom>
            <a:avLst/>
            <a:gdLst/>
            <a:ahLst/>
            <a:cxnLst/>
            <a:rect r="r" b="b" t="t" l="l"/>
            <a:pathLst>
              <a:path h="3904488" w="7315200">
                <a:moveTo>
                  <a:pt x="7315200" y="3904488"/>
                </a:moveTo>
                <a:lnTo>
                  <a:pt x="0" y="3904488"/>
                </a:lnTo>
                <a:lnTo>
                  <a:pt x="0" y="0"/>
                </a:lnTo>
                <a:lnTo>
                  <a:pt x="7315200" y="0"/>
                </a:lnTo>
                <a:lnTo>
                  <a:pt x="7315200" y="390448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4180371" y="-795713"/>
            <a:ext cx="7674798" cy="6370082"/>
          </a:xfrm>
          <a:custGeom>
            <a:avLst/>
            <a:gdLst/>
            <a:ahLst/>
            <a:cxnLst/>
            <a:rect r="r" b="b" t="t" l="l"/>
            <a:pathLst>
              <a:path h="6370082" w="7674798">
                <a:moveTo>
                  <a:pt x="0" y="6370082"/>
                </a:moveTo>
                <a:lnTo>
                  <a:pt x="7674798" y="6370082"/>
                </a:lnTo>
                <a:lnTo>
                  <a:pt x="7674798" y="0"/>
                </a:lnTo>
                <a:lnTo>
                  <a:pt x="0" y="0"/>
                </a:lnTo>
                <a:lnTo>
                  <a:pt x="0" y="6370082"/>
                </a:lnTo>
                <a:close/>
              </a:path>
            </a:pathLst>
          </a:custGeom>
          <a:blipFill>
            <a:blip r:embed="rId4"/>
            <a:stretch>
              <a:fillRect l="0" t="0" r="0" b="0"/>
            </a:stretch>
          </a:blipFill>
        </p:spPr>
      </p:sp>
      <p:sp>
        <p:nvSpPr>
          <p:cNvPr name="Freeform 4" id="4"/>
          <p:cNvSpPr/>
          <p:nvPr/>
        </p:nvSpPr>
        <p:spPr>
          <a:xfrm flipH="false" flipV="false" rot="0">
            <a:off x="12670606" y="8193928"/>
            <a:ext cx="7903394" cy="2766188"/>
          </a:xfrm>
          <a:custGeom>
            <a:avLst/>
            <a:gdLst/>
            <a:ahLst/>
            <a:cxnLst/>
            <a:rect r="r" b="b" t="t" l="l"/>
            <a:pathLst>
              <a:path h="2766188" w="7903394">
                <a:moveTo>
                  <a:pt x="0" y="0"/>
                </a:moveTo>
                <a:lnTo>
                  <a:pt x="7903394" y="0"/>
                </a:lnTo>
                <a:lnTo>
                  <a:pt x="7903394" y="2766188"/>
                </a:lnTo>
                <a:lnTo>
                  <a:pt x="0" y="27661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827708" y="1758535"/>
            <a:ext cx="8685125" cy="7165228"/>
          </a:xfrm>
          <a:custGeom>
            <a:avLst/>
            <a:gdLst/>
            <a:ahLst/>
            <a:cxnLst/>
            <a:rect r="r" b="b" t="t" l="l"/>
            <a:pathLst>
              <a:path h="7165228" w="8685125">
                <a:moveTo>
                  <a:pt x="0" y="0"/>
                </a:moveTo>
                <a:lnTo>
                  <a:pt x="8685125" y="0"/>
                </a:lnTo>
                <a:lnTo>
                  <a:pt x="8685125" y="7165228"/>
                </a:lnTo>
                <a:lnTo>
                  <a:pt x="0" y="7165228"/>
                </a:lnTo>
                <a:lnTo>
                  <a:pt x="0" y="0"/>
                </a:lnTo>
                <a:close/>
              </a:path>
            </a:pathLst>
          </a:custGeom>
          <a:blipFill>
            <a:blip r:embed="rId7"/>
            <a:stretch>
              <a:fillRect l="0" t="0" r="0" b="0"/>
            </a:stretch>
          </a:blipFill>
        </p:spPr>
      </p:sp>
      <p:sp>
        <p:nvSpPr>
          <p:cNvPr name="TextBox 6" id="6"/>
          <p:cNvSpPr txBox="true"/>
          <p:nvPr/>
        </p:nvSpPr>
        <p:spPr>
          <a:xfrm rot="0">
            <a:off x="774771" y="2294078"/>
            <a:ext cx="8757717" cy="854076"/>
          </a:xfrm>
          <a:prstGeom prst="rect">
            <a:avLst/>
          </a:prstGeom>
        </p:spPr>
        <p:txBody>
          <a:bodyPr anchor="t" rtlCol="false" tIns="0" lIns="0" bIns="0" rIns="0">
            <a:spAutoFit/>
          </a:bodyPr>
          <a:lstStyle/>
          <a:p>
            <a:pPr algn="ctr">
              <a:lnSpc>
                <a:spcPts val="6999"/>
              </a:lnSpc>
            </a:pPr>
            <a:r>
              <a:rPr lang="en-US" sz="4999" b="true">
                <a:solidFill>
                  <a:srgbClr val="000000"/>
                </a:solidFill>
                <a:latin typeface="Noto Sans Bold"/>
                <a:ea typeface="Noto Sans Bold"/>
                <a:cs typeface="Noto Sans Bold"/>
                <a:sym typeface="Noto Sans Bold"/>
              </a:rPr>
              <a:t>Thiết kế Pipeline chuẩn hóa</a:t>
            </a:r>
          </a:p>
        </p:txBody>
      </p:sp>
      <p:sp>
        <p:nvSpPr>
          <p:cNvPr name="TextBox 7" id="7"/>
          <p:cNvSpPr txBox="true"/>
          <p:nvPr/>
        </p:nvSpPr>
        <p:spPr>
          <a:xfrm rot="0">
            <a:off x="0" y="3678614"/>
            <a:ext cx="9827708" cy="5579686"/>
          </a:xfrm>
          <a:prstGeom prst="rect">
            <a:avLst/>
          </a:prstGeom>
        </p:spPr>
        <p:txBody>
          <a:bodyPr anchor="t" rtlCol="false" tIns="0" lIns="0" bIns="0" rIns="0">
            <a:spAutoFit/>
          </a:bodyPr>
          <a:lstStyle/>
          <a:p>
            <a:pPr algn="ctr">
              <a:lnSpc>
                <a:spcPts val="4308"/>
              </a:lnSpc>
            </a:pPr>
          </a:p>
          <a:p>
            <a:pPr algn="l" marL="664391" indent="-332196" lvl="1">
              <a:lnSpc>
                <a:spcPts val="4308"/>
              </a:lnSpc>
              <a:buFont typeface="Arial"/>
              <a:buChar char="•"/>
            </a:pPr>
            <a:r>
              <a:rPr lang="en-US" sz="3077">
                <a:solidFill>
                  <a:srgbClr val="000000"/>
                </a:solidFill>
                <a:latin typeface="Noto Sans"/>
                <a:ea typeface="Noto Sans"/>
                <a:cs typeface="Noto Sans"/>
                <a:sym typeface="Noto Sans"/>
              </a:rPr>
              <a:t>Cơ chế ScalerRegistry: Xây dựng một hệ thống trung tâm để quản lý các bộ chuẩn hóa.</a:t>
            </a:r>
          </a:p>
          <a:p>
            <a:pPr algn="l" marL="697868" indent="-348934" lvl="1">
              <a:lnSpc>
                <a:spcPts val="4525"/>
              </a:lnSpc>
              <a:buFont typeface="Arial"/>
              <a:buChar char="•"/>
            </a:pPr>
            <a:r>
              <a:rPr lang="en-US" sz="3232">
                <a:solidFill>
                  <a:srgbClr val="000000"/>
                </a:solidFill>
                <a:latin typeface="Noto Sans"/>
                <a:ea typeface="Noto Sans"/>
                <a:cs typeface="Noto Sans"/>
                <a:sym typeface="Noto Sans"/>
              </a:rPr>
              <a:t>RobustScaler: Skew &gt; 1.5 (Nhiều ngoại lai), cho final_odds, avg_rank, last_rank</a:t>
            </a:r>
          </a:p>
          <a:p>
            <a:pPr algn="l" marL="697868" indent="-348934" lvl="1">
              <a:lnSpc>
                <a:spcPts val="4525"/>
              </a:lnSpc>
              <a:buFont typeface="Arial"/>
              <a:buChar char="•"/>
            </a:pPr>
            <a:r>
              <a:rPr lang="en-US" sz="3232">
                <a:solidFill>
                  <a:srgbClr val="000000"/>
                </a:solidFill>
                <a:latin typeface="Noto Sans"/>
                <a:ea typeface="Noto Sans"/>
                <a:cs typeface="Noto Sans"/>
                <a:sym typeface="Noto Sans"/>
              </a:rPr>
              <a:t>MinMaxScaler: 0.5 &lt; Skew &lt;= 1.5, cho field_size, horse_number</a:t>
            </a:r>
          </a:p>
          <a:p>
            <a:pPr algn="l" marL="697868" indent="-348934" lvl="1">
              <a:lnSpc>
                <a:spcPts val="4525"/>
              </a:lnSpc>
              <a:buFont typeface="Arial"/>
              <a:buChar char="•"/>
            </a:pPr>
            <a:r>
              <a:rPr lang="en-US" sz="3232">
                <a:solidFill>
                  <a:srgbClr val="000000"/>
                </a:solidFill>
                <a:latin typeface="Noto Sans"/>
                <a:ea typeface="Noto Sans"/>
                <a:cs typeface="Noto Sans"/>
                <a:sym typeface="Noto Sans"/>
              </a:rPr>
              <a:t>StandardScaler: Skew &lt;= 0.5, cho distance_metres, handicap_distance</a:t>
            </a:r>
          </a:p>
          <a:p>
            <a:pPr algn="ctr">
              <a:lnSpc>
                <a:spcPts val="4308"/>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1823916" y="-602488"/>
            <a:ext cx="7315200" cy="3904488"/>
          </a:xfrm>
          <a:custGeom>
            <a:avLst/>
            <a:gdLst/>
            <a:ahLst/>
            <a:cxnLst/>
            <a:rect r="r" b="b" t="t" l="l"/>
            <a:pathLst>
              <a:path h="3904488" w="7315200">
                <a:moveTo>
                  <a:pt x="7315200" y="3904488"/>
                </a:moveTo>
                <a:lnTo>
                  <a:pt x="0" y="3904488"/>
                </a:lnTo>
                <a:lnTo>
                  <a:pt x="0" y="0"/>
                </a:lnTo>
                <a:lnTo>
                  <a:pt x="7315200" y="0"/>
                </a:lnTo>
                <a:lnTo>
                  <a:pt x="7315200" y="390448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322413" y="-973861"/>
            <a:ext cx="7674798" cy="6370082"/>
          </a:xfrm>
          <a:custGeom>
            <a:avLst/>
            <a:gdLst/>
            <a:ahLst/>
            <a:cxnLst/>
            <a:rect r="r" b="b" t="t" l="l"/>
            <a:pathLst>
              <a:path h="6370082" w="7674798">
                <a:moveTo>
                  <a:pt x="0" y="6370082"/>
                </a:moveTo>
                <a:lnTo>
                  <a:pt x="7674798" y="6370082"/>
                </a:lnTo>
                <a:lnTo>
                  <a:pt x="7674798" y="0"/>
                </a:lnTo>
                <a:lnTo>
                  <a:pt x="0" y="0"/>
                </a:lnTo>
                <a:lnTo>
                  <a:pt x="0" y="6370082"/>
                </a:lnTo>
                <a:close/>
              </a:path>
            </a:pathLst>
          </a:custGeom>
          <a:blipFill>
            <a:blip r:embed="rId4"/>
            <a:stretch>
              <a:fillRect l="0" t="0" r="0" b="0"/>
            </a:stretch>
          </a:blipFill>
        </p:spPr>
      </p:sp>
      <p:sp>
        <p:nvSpPr>
          <p:cNvPr name="Freeform 4" id="4"/>
          <p:cNvSpPr/>
          <p:nvPr/>
        </p:nvSpPr>
        <p:spPr>
          <a:xfrm flipH="false" flipV="false" rot="0">
            <a:off x="11823916" y="7875206"/>
            <a:ext cx="7903394" cy="2766188"/>
          </a:xfrm>
          <a:custGeom>
            <a:avLst/>
            <a:gdLst/>
            <a:ahLst/>
            <a:cxnLst/>
            <a:rect r="r" b="b" t="t" l="l"/>
            <a:pathLst>
              <a:path h="2766188" w="7903394">
                <a:moveTo>
                  <a:pt x="0" y="0"/>
                </a:moveTo>
                <a:lnTo>
                  <a:pt x="7903394" y="0"/>
                </a:lnTo>
                <a:lnTo>
                  <a:pt x="7903394" y="2766188"/>
                </a:lnTo>
                <a:lnTo>
                  <a:pt x="0" y="27661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2514986" y="1736517"/>
            <a:ext cx="10584776"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Noto Sans Bold"/>
                <a:ea typeface="Noto Sans Bold"/>
                <a:cs typeface="Noto Sans Bold"/>
                <a:sym typeface="Noto Sans Bold"/>
              </a:rPr>
              <a:t>Lựa chọn Mô hình và Huấn luyện </a:t>
            </a:r>
          </a:p>
        </p:txBody>
      </p:sp>
      <p:sp>
        <p:nvSpPr>
          <p:cNvPr name="TextBox 6" id="6"/>
          <p:cNvSpPr txBox="true"/>
          <p:nvPr/>
        </p:nvSpPr>
        <p:spPr>
          <a:xfrm rot="0">
            <a:off x="1716458" y="4431617"/>
            <a:ext cx="14770671" cy="508127"/>
          </a:xfrm>
          <a:prstGeom prst="rect">
            <a:avLst/>
          </a:prstGeom>
        </p:spPr>
        <p:txBody>
          <a:bodyPr anchor="t" rtlCol="false" tIns="0" lIns="0" bIns="0" rIns="0">
            <a:spAutoFit/>
          </a:bodyPr>
          <a:lstStyle/>
          <a:p>
            <a:pPr algn="l" marL="619634" indent="-309817" lvl="1">
              <a:lnSpc>
                <a:spcPts val="4018"/>
              </a:lnSpc>
              <a:buFont typeface="Arial"/>
              <a:buChar char="•"/>
            </a:pPr>
            <a:r>
              <a:rPr lang="en-US" sz="2870">
                <a:solidFill>
                  <a:srgbClr val="000000"/>
                </a:solidFill>
                <a:latin typeface="Work Sans"/>
                <a:ea typeface="Work Sans"/>
                <a:cs typeface="Work Sans"/>
                <a:sym typeface="Work Sans"/>
              </a:rPr>
              <a:t>Thuật toán: XGBoost (do khả năng xử lý dữ liệu bảng tốt, chống overfitting cao).</a:t>
            </a:r>
          </a:p>
        </p:txBody>
      </p:sp>
      <p:sp>
        <p:nvSpPr>
          <p:cNvPr name="TextBox 7" id="7"/>
          <p:cNvSpPr txBox="true"/>
          <p:nvPr/>
        </p:nvSpPr>
        <p:spPr>
          <a:xfrm rot="0">
            <a:off x="1716458" y="3226876"/>
            <a:ext cx="14686257" cy="993902"/>
          </a:xfrm>
          <a:prstGeom prst="rect">
            <a:avLst/>
          </a:prstGeom>
        </p:spPr>
        <p:txBody>
          <a:bodyPr anchor="t" rtlCol="false" tIns="0" lIns="0" bIns="0" rIns="0">
            <a:spAutoFit/>
          </a:bodyPr>
          <a:lstStyle/>
          <a:p>
            <a:pPr algn="l" marL="619634" indent="-309817" lvl="1">
              <a:lnSpc>
                <a:spcPts val="4018"/>
              </a:lnSpc>
              <a:buFont typeface="Arial"/>
              <a:buChar char="•"/>
            </a:pPr>
            <a:r>
              <a:rPr lang="en-US" sz="2870">
                <a:solidFill>
                  <a:srgbClr val="000000"/>
                </a:solidFill>
                <a:latin typeface="Noto Sans"/>
                <a:ea typeface="Noto Sans"/>
                <a:cs typeface="Noto Sans"/>
                <a:sym typeface="Noto Sans"/>
              </a:rPr>
              <a:t>Phân chia dữ liệu (</a:t>
            </a:r>
            <a:r>
              <a:rPr lang="en-US" sz="2870">
                <a:solidFill>
                  <a:srgbClr val="000000"/>
                </a:solidFill>
                <a:latin typeface="Noto Sans"/>
                <a:ea typeface="Noto Sans"/>
                <a:cs typeface="Noto Sans"/>
                <a:sym typeface="Noto Sans"/>
              </a:rPr>
              <a:t>Time-based Split): Train trên quá khứ, Test trên tương lai để mô phỏng chính xác dòng thời gian thực tế.</a:t>
            </a:r>
          </a:p>
        </p:txBody>
      </p:sp>
      <p:sp>
        <p:nvSpPr>
          <p:cNvPr name="TextBox 8" id="8"/>
          <p:cNvSpPr txBox="true"/>
          <p:nvPr/>
        </p:nvSpPr>
        <p:spPr>
          <a:xfrm rot="0">
            <a:off x="1758665" y="5339071"/>
            <a:ext cx="14686257" cy="993902"/>
          </a:xfrm>
          <a:prstGeom prst="rect">
            <a:avLst/>
          </a:prstGeom>
        </p:spPr>
        <p:txBody>
          <a:bodyPr anchor="t" rtlCol="false" tIns="0" lIns="0" bIns="0" rIns="0">
            <a:spAutoFit/>
          </a:bodyPr>
          <a:lstStyle/>
          <a:p>
            <a:pPr algn="l" marL="619634" indent="-309817" lvl="1">
              <a:lnSpc>
                <a:spcPts val="4018"/>
              </a:lnSpc>
              <a:buFont typeface="Arial"/>
              <a:buChar char="•"/>
            </a:pPr>
            <a:r>
              <a:rPr lang="en-US" sz="2870">
                <a:solidFill>
                  <a:srgbClr val="000000"/>
                </a:solidFill>
                <a:latin typeface="Noto Sans"/>
                <a:ea typeface="Noto Sans"/>
                <a:cs typeface="Noto Sans"/>
                <a:sym typeface="Noto Sans"/>
              </a:rPr>
              <a:t> Tối ưu ngưỡng xác suất (</a:t>
            </a:r>
            <a:r>
              <a:rPr lang="en-US" sz="2870">
                <a:solidFill>
                  <a:srgbClr val="000000"/>
                </a:solidFill>
                <a:latin typeface="Noto Sans"/>
                <a:ea typeface="Noto Sans"/>
                <a:cs typeface="Noto Sans"/>
                <a:sym typeface="Noto Sans"/>
              </a:rPr>
              <a:t>Threshold Tuning): Bỏ qua mức 50% mặc định. Chỉ ra quyết định khi Xác suất dự đoán &gt; Ngưỡng tự tin cao (VD: 85%, 95%,...).</a:t>
            </a:r>
          </a:p>
        </p:txBody>
      </p:sp>
      <p:sp>
        <p:nvSpPr>
          <p:cNvPr name="TextBox 9" id="9"/>
          <p:cNvSpPr txBox="true"/>
          <p:nvPr/>
        </p:nvSpPr>
        <p:spPr>
          <a:xfrm rot="0">
            <a:off x="1716458" y="6580623"/>
            <a:ext cx="13929935" cy="1498727"/>
          </a:xfrm>
          <a:prstGeom prst="rect">
            <a:avLst/>
          </a:prstGeom>
        </p:spPr>
        <p:txBody>
          <a:bodyPr anchor="t" rtlCol="false" tIns="0" lIns="0" bIns="0" rIns="0">
            <a:spAutoFit/>
          </a:bodyPr>
          <a:lstStyle/>
          <a:p>
            <a:pPr algn="l" marL="619634" indent="-309817" lvl="1">
              <a:lnSpc>
                <a:spcPts val="4018"/>
              </a:lnSpc>
              <a:buFont typeface="Arial"/>
              <a:buChar char="•"/>
            </a:pPr>
            <a:r>
              <a:rPr lang="en-US" sz="2870">
                <a:solidFill>
                  <a:srgbClr val="000000"/>
                </a:solidFill>
                <a:latin typeface="Noto Sans"/>
                <a:ea typeface="Noto Sans"/>
                <a:cs typeface="Noto Sans"/>
                <a:sym typeface="Noto Sans"/>
              </a:rPr>
              <a:t>Tối ưu theo thực chiến: Nhờ ngưỡng xác suất cao, mô hình tối đa hóa được chỉ số Precision (chấp nhận đánh ít trận nhưng tỷ lệ trúng cao) để bảo toàn vốn cá cược.</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1753385" y="-223024"/>
            <a:ext cx="7315200" cy="3904488"/>
          </a:xfrm>
          <a:custGeom>
            <a:avLst/>
            <a:gdLst/>
            <a:ahLst/>
            <a:cxnLst/>
            <a:rect r="r" b="b" t="t" l="l"/>
            <a:pathLst>
              <a:path h="3904488" w="7315200">
                <a:moveTo>
                  <a:pt x="7315200" y="3904488"/>
                </a:moveTo>
                <a:lnTo>
                  <a:pt x="0" y="3904488"/>
                </a:lnTo>
                <a:lnTo>
                  <a:pt x="0" y="0"/>
                </a:lnTo>
                <a:lnTo>
                  <a:pt x="7315200" y="0"/>
                </a:lnTo>
                <a:lnTo>
                  <a:pt x="7315200" y="390448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461803" y="-890227"/>
            <a:ext cx="7674798" cy="6370082"/>
          </a:xfrm>
          <a:custGeom>
            <a:avLst/>
            <a:gdLst/>
            <a:ahLst/>
            <a:cxnLst/>
            <a:rect r="r" b="b" t="t" l="l"/>
            <a:pathLst>
              <a:path h="6370082" w="7674798">
                <a:moveTo>
                  <a:pt x="0" y="6370082"/>
                </a:moveTo>
                <a:lnTo>
                  <a:pt x="7674798" y="6370082"/>
                </a:lnTo>
                <a:lnTo>
                  <a:pt x="7674798" y="0"/>
                </a:lnTo>
                <a:lnTo>
                  <a:pt x="0" y="0"/>
                </a:lnTo>
                <a:lnTo>
                  <a:pt x="0" y="6370082"/>
                </a:lnTo>
                <a:close/>
              </a:path>
            </a:pathLst>
          </a:custGeom>
          <a:blipFill>
            <a:blip r:embed="rId4"/>
            <a:stretch>
              <a:fillRect l="0" t="0" r="0" b="0"/>
            </a:stretch>
          </a:blipFill>
        </p:spPr>
      </p:sp>
      <p:sp>
        <p:nvSpPr>
          <p:cNvPr name="Freeform 4" id="4"/>
          <p:cNvSpPr/>
          <p:nvPr/>
        </p:nvSpPr>
        <p:spPr>
          <a:xfrm flipH="false" flipV="false" rot="0">
            <a:off x="12447582" y="7520812"/>
            <a:ext cx="7903394" cy="2766188"/>
          </a:xfrm>
          <a:custGeom>
            <a:avLst/>
            <a:gdLst/>
            <a:ahLst/>
            <a:cxnLst/>
            <a:rect r="r" b="b" t="t" l="l"/>
            <a:pathLst>
              <a:path h="2766188" w="7903394">
                <a:moveTo>
                  <a:pt x="0" y="0"/>
                </a:moveTo>
                <a:lnTo>
                  <a:pt x="7903394" y="0"/>
                </a:lnTo>
                <a:lnTo>
                  <a:pt x="7903394" y="2766188"/>
                </a:lnTo>
                <a:lnTo>
                  <a:pt x="0" y="27661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Object 5" id="5"/>
          <p:cNvGraphicFramePr/>
          <p:nvPr/>
        </p:nvGraphicFramePr>
        <p:xfrm>
          <a:off x="2375596" y="2890587"/>
          <a:ext cx="7543800" cy="3143250"/>
        </p:xfrm>
        <a:graphic>
          <a:graphicData uri="http://schemas.openxmlformats.org/presentationml/2006/ole">
            <p:oleObj imgW="9042400" imgH="46482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6" id="6"/>
          <p:cNvSpPr txBox="true"/>
          <p:nvPr/>
        </p:nvSpPr>
        <p:spPr>
          <a:xfrm rot="0">
            <a:off x="7923966" y="1245032"/>
            <a:ext cx="2440067" cy="863600"/>
          </a:xfrm>
          <a:prstGeom prst="rect">
            <a:avLst/>
          </a:prstGeom>
        </p:spPr>
        <p:txBody>
          <a:bodyPr anchor="t" rtlCol="false" tIns="0" lIns="0" bIns="0" rIns="0">
            <a:spAutoFit/>
          </a:bodyPr>
          <a:lstStyle/>
          <a:p>
            <a:pPr algn="ctr">
              <a:lnSpc>
                <a:spcPts val="7000"/>
              </a:lnSpc>
            </a:pPr>
            <a:r>
              <a:rPr lang="en-US" sz="5000" b="true">
                <a:solidFill>
                  <a:srgbClr val="000000"/>
                </a:solidFill>
                <a:latin typeface="Noto Sans Bold"/>
                <a:ea typeface="Noto Sans Bold"/>
                <a:cs typeface="Noto Sans Bold"/>
                <a:sym typeface="Noto Sans Bold"/>
              </a:rPr>
              <a:t>Kết quả</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2409897" y="-207521"/>
            <a:ext cx="7315200" cy="3904488"/>
          </a:xfrm>
          <a:custGeom>
            <a:avLst/>
            <a:gdLst/>
            <a:ahLst/>
            <a:cxnLst/>
            <a:rect r="r" b="b" t="t" l="l"/>
            <a:pathLst>
              <a:path h="3904488" w="7315200">
                <a:moveTo>
                  <a:pt x="7315200" y="3904488"/>
                </a:moveTo>
                <a:lnTo>
                  <a:pt x="0" y="3904488"/>
                </a:lnTo>
                <a:lnTo>
                  <a:pt x="0" y="0"/>
                </a:lnTo>
                <a:lnTo>
                  <a:pt x="7315200" y="0"/>
                </a:lnTo>
                <a:lnTo>
                  <a:pt x="7315200" y="390448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836990" y="-1060906"/>
            <a:ext cx="7674798" cy="6370082"/>
          </a:xfrm>
          <a:custGeom>
            <a:avLst/>
            <a:gdLst/>
            <a:ahLst/>
            <a:cxnLst/>
            <a:rect r="r" b="b" t="t" l="l"/>
            <a:pathLst>
              <a:path h="6370082" w="7674798">
                <a:moveTo>
                  <a:pt x="0" y="6370082"/>
                </a:moveTo>
                <a:lnTo>
                  <a:pt x="7674798" y="6370082"/>
                </a:lnTo>
                <a:lnTo>
                  <a:pt x="7674798" y="0"/>
                </a:lnTo>
                <a:lnTo>
                  <a:pt x="0" y="0"/>
                </a:lnTo>
                <a:lnTo>
                  <a:pt x="0" y="6370082"/>
                </a:lnTo>
                <a:close/>
              </a:path>
            </a:pathLst>
          </a:custGeom>
          <a:blipFill>
            <a:blip r:embed="rId4"/>
            <a:stretch>
              <a:fillRect l="0" t="0" r="0" b="0"/>
            </a:stretch>
          </a:blipFill>
        </p:spPr>
      </p:sp>
      <p:sp>
        <p:nvSpPr>
          <p:cNvPr name="Freeform 4" id="4"/>
          <p:cNvSpPr/>
          <p:nvPr/>
        </p:nvSpPr>
        <p:spPr>
          <a:xfrm flipH="false" flipV="false" rot="0">
            <a:off x="11821703" y="8084024"/>
            <a:ext cx="7903394" cy="2766188"/>
          </a:xfrm>
          <a:custGeom>
            <a:avLst/>
            <a:gdLst/>
            <a:ahLst/>
            <a:cxnLst/>
            <a:rect r="r" b="b" t="t" l="l"/>
            <a:pathLst>
              <a:path h="2766188" w="7903394">
                <a:moveTo>
                  <a:pt x="0" y="0"/>
                </a:moveTo>
                <a:lnTo>
                  <a:pt x="7903394" y="0"/>
                </a:lnTo>
                <a:lnTo>
                  <a:pt x="7903394" y="2766187"/>
                </a:lnTo>
                <a:lnTo>
                  <a:pt x="0" y="27661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7492186" y="1260535"/>
            <a:ext cx="3303627" cy="863600"/>
          </a:xfrm>
          <a:prstGeom prst="rect">
            <a:avLst/>
          </a:prstGeom>
        </p:spPr>
        <p:txBody>
          <a:bodyPr anchor="t" rtlCol="false" tIns="0" lIns="0" bIns="0" rIns="0">
            <a:spAutoFit/>
          </a:bodyPr>
          <a:lstStyle/>
          <a:p>
            <a:pPr algn="ctr">
              <a:lnSpc>
                <a:spcPts val="7000"/>
              </a:lnSpc>
            </a:pPr>
            <a:r>
              <a:rPr lang="en-US" sz="5000" b="true">
                <a:solidFill>
                  <a:srgbClr val="000000"/>
                </a:solidFill>
                <a:latin typeface="Noto Sans Bold"/>
                <a:ea typeface="Noto Sans Bold"/>
                <a:cs typeface="Noto Sans Bold"/>
                <a:sym typeface="Noto Sans Bold"/>
              </a:rPr>
              <a:t>Thảo Luận</a:t>
            </a:r>
          </a:p>
        </p:txBody>
      </p:sp>
      <p:sp>
        <p:nvSpPr>
          <p:cNvPr name="TextBox 6" id="6"/>
          <p:cNvSpPr txBox="true"/>
          <p:nvPr/>
        </p:nvSpPr>
        <p:spPr>
          <a:xfrm rot="0">
            <a:off x="1616927" y="2592641"/>
            <a:ext cx="16252902" cy="6042152"/>
          </a:xfrm>
          <a:prstGeom prst="rect">
            <a:avLst/>
          </a:prstGeom>
        </p:spPr>
        <p:txBody>
          <a:bodyPr anchor="t" rtlCol="false" tIns="0" lIns="0" bIns="0" rIns="0">
            <a:spAutoFit/>
          </a:bodyPr>
          <a:lstStyle/>
          <a:p>
            <a:pPr algn="l">
              <a:lnSpc>
                <a:spcPts val="4018"/>
              </a:lnSpc>
            </a:pPr>
            <a:r>
              <a:rPr lang="en-US" sz="2870" b="true">
                <a:solidFill>
                  <a:srgbClr val="000000"/>
                </a:solidFill>
                <a:latin typeface="Noto Sans Bold"/>
                <a:ea typeface="Noto Sans Bold"/>
                <a:cs typeface="Noto Sans Bold"/>
                <a:sym typeface="Noto Sans Bold"/>
              </a:rPr>
              <a:t> </a:t>
            </a:r>
            <a:r>
              <a:rPr lang="en-US" b="true" sz="2870">
                <a:solidFill>
                  <a:srgbClr val="000000"/>
                </a:solidFill>
                <a:latin typeface="Noto Sans Bold"/>
                <a:ea typeface="Noto Sans Bold"/>
                <a:cs typeface="Noto Sans Bold"/>
                <a:sym typeface="Noto Sans Bold"/>
              </a:rPr>
              <a:t>Đánh giá chuyên sâu (Insights):</a:t>
            </a:r>
          </a:p>
          <a:p>
            <a:pPr algn="l" marL="619634" indent="-309817" lvl="1">
              <a:lnSpc>
                <a:spcPts val="4018"/>
              </a:lnSpc>
              <a:buFont typeface="Arial"/>
              <a:buChar char="•"/>
            </a:pPr>
            <a:r>
              <a:rPr lang="en-US" sz="2870">
                <a:solidFill>
                  <a:srgbClr val="000000"/>
                </a:solidFill>
                <a:latin typeface="Noto Sans"/>
                <a:ea typeface="Noto Sans"/>
                <a:cs typeface="Noto Sans"/>
                <a:sym typeface="Noto Sans"/>
              </a:rPr>
              <a:t>Tương quan thực tế: Mô hình xác nhận tỷ lệ cược (Odds) và phong độ lịch sử (chuỗi Musique) là 2 tín hiệu quyết định cục diện trận đua. AI đang tư duy đúng với logic của chuyên gia.</a:t>
            </a:r>
          </a:p>
          <a:p>
            <a:pPr algn="l" marL="619634" indent="-309817" lvl="1">
              <a:lnSpc>
                <a:spcPts val="4018"/>
              </a:lnSpc>
              <a:buFont typeface="Arial"/>
              <a:buChar char="•"/>
            </a:pPr>
            <a:r>
              <a:rPr lang="en-US" sz="2870">
                <a:solidFill>
                  <a:srgbClr val="000000"/>
                </a:solidFill>
                <a:latin typeface="Noto Sans"/>
                <a:ea typeface="Noto Sans"/>
                <a:cs typeface="Noto Sans"/>
                <a:sym typeface="Noto Sans"/>
              </a:rPr>
              <a:t>Sự đánh đổi (Trade-off): Tăng ngưỡng tự tin (Threshold &gt; 95%) giúp tỷ lệ thắng (Precision) tăng vọt lên ~70%, nhưng phải chấp nhận việc "bỏ qua" rất nhiều trận đua (tần suất đặt cược giảm).</a:t>
            </a:r>
          </a:p>
          <a:p>
            <a:pPr algn="l">
              <a:lnSpc>
                <a:spcPts val="4018"/>
              </a:lnSpc>
            </a:pPr>
            <a:r>
              <a:rPr lang="en-US" b="true" sz="2870">
                <a:solidFill>
                  <a:srgbClr val="000000"/>
                </a:solidFill>
                <a:latin typeface="Noto Sans Bold"/>
                <a:ea typeface="Noto Sans Bold"/>
                <a:cs typeface="Noto Sans Bold"/>
                <a:sym typeface="Noto Sans Bold"/>
              </a:rPr>
              <a:t>Hạn chế của hệ thống (Limitations):</a:t>
            </a:r>
          </a:p>
          <a:p>
            <a:pPr algn="l" marL="619634" indent="-309817" lvl="1">
              <a:lnSpc>
                <a:spcPts val="4018"/>
              </a:lnSpc>
              <a:buFont typeface="Arial"/>
              <a:buChar char="•"/>
            </a:pPr>
            <a:r>
              <a:rPr lang="en-US" sz="2870">
                <a:solidFill>
                  <a:srgbClr val="000000"/>
                </a:solidFill>
                <a:latin typeface="Noto Sans"/>
                <a:ea typeface="Noto Sans"/>
                <a:cs typeface="Noto Sans"/>
                <a:sym typeface="Noto Sans"/>
              </a:rPr>
              <a:t>Điểm mù dữ liệu: Mô hình hiện tại chưa có các dữ liệu môi trường quan trọng (thời tiết, độ ẩm, loại bề mặt sân cỏ/đất cát) – những yếu tố ảnh hưởng mạnh đến thể lực ngựa.</a:t>
            </a:r>
          </a:p>
          <a:p>
            <a:pPr algn="l" marL="619634" indent="-309817" lvl="1">
              <a:lnSpc>
                <a:spcPts val="4018"/>
              </a:lnSpc>
              <a:buFont typeface="Arial"/>
              <a:buChar char="•"/>
            </a:pPr>
            <a:r>
              <a:rPr lang="en-US" sz="2870">
                <a:solidFill>
                  <a:srgbClr val="000000"/>
                </a:solidFill>
                <a:latin typeface="Noto Sans"/>
                <a:ea typeface="Noto Sans"/>
                <a:cs typeface="Noto Sans"/>
                <a:sym typeface="Noto Sans"/>
              </a:rPr>
              <a:t>Phụ thuộc vào nhà cái: Mô hình bị ảnh hưởng nhiều bởi biến Odds (Implied Probability). Nếu tỷ lệ cược ban đầu của nhà cái bị sai lệch, AI cũng dễ bị đánh lừa.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1753385" y="-223024"/>
            <a:ext cx="7315200" cy="3904488"/>
          </a:xfrm>
          <a:custGeom>
            <a:avLst/>
            <a:gdLst/>
            <a:ahLst/>
            <a:cxnLst/>
            <a:rect r="r" b="b" t="t" l="l"/>
            <a:pathLst>
              <a:path h="3904488" w="7315200">
                <a:moveTo>
                  <a:pt x="7315200" y="3904488"/>
                </a:moveTo>
                <a:lnTo>
                  <a:pt x="0" y="3904488"/>
                </a:lnTo>
                <a:lnTo>
                  <a:pt x="0" y="0"/>
                </a:lnTo>
                <a:lnTo>
                  <a:pt x="7315200" y="0"/>
                </a:lnTo>
                <a:lnTo>
                  <a:pt x="7315200" y="390448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461803" y="-890227"/>
            <a:ext cx="7674798" cy="6370082"/>
          </a:xfrm>
          <a:custGeom>
            <a:avLst/>
            <a:gdLst/>
            <a:ahLst/>
            <a:cxnLst/>
            <a:rect r="r" b="b" t="t" l="l"/>
            <a:pathLst>
              <a:path h="6370082" w="7674798">
                <a:moveTo>
                  <a:pt x="0" y="6370082"/>
                </a:moveTo>
                <a:lnTo>
                  <a:pt x="7674798" y="6370082"/>
                </a:lnTo>
                <a:lnTo>
                  <a:pt x="7674798" y="0"/>
                </a:lnTo>
                <a:lnTo>
                  <a:pt x="0" y="0"/>
                </a:lnTo>
                <a:lnTo>
                  <a:pt x="0" y="6370082"/>
                </a:lnTo>
                <a:close/>
              </a:path>
            </a:pathLst>
          </a:custGeom>
          <a:blipFill>
            <a:blip r:embed="rId4"/>
            <a:stretch>
              <a:fillRect l="0" t="0" r="0" b="0"/>
            </a:stretch>
          </a:blipFill>
        </p:spPr>
      </p:sp>
      <p:sp>
        <p:nvSpPr>
          <p:cNvPr name="Freeform 4" id="4"/>
          <p:cNvSpPr/>
          <p:nvPr/>
        </p:nvSpPr>
        <p:spPr>
          <a:xfrm flipH="false" flipV="false" rot="0">
            <a:off x="12447582" y="7520812"/>
            <a:ext cx="7903394" cy="2766188"/>
          </a:xfrm>
          <a:custGeom>
            <a:avLst/>
            <a:gdLst/>
            <a:ahLst/>
            <a:cxnLst/>
            <a:rect r="r" b="b" t="t" l="l"/>
            <a:pathLst>
              <a:path h="2766188" w="7903394">
                <a:moveTo>
                  <a:pt x="0" y="0"/>
                </a:moveTo>
                <a:lnTo>
                  <a:pt x="7903394" y="0"/>
                </a:lnTo>
                <a:lnTo>
                  <a:pt x="7903394" y="2766188"/>
                </a:lnTo>
                <a:lnTo>
                  <a:pt x="0" y="27661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7819311" y="1245032"/>
            <a:ext cx="2649379" cy="863600"/>
          </a:xfrm>
          <a:prstGeom prst="rect">
            <a:avLst/>
          </a:prstGeom>
        </p:spPr>
        <p:txBody>
          <a:bodyPr anchor="t" rtlCol="false" tIns="0" lIns="0" bIns="0" rIns="0">
            <a:spAutoFit/>
          </a:bodyPr>
          <a:lstStyle/>
          <a:p>
            <a:pPr algn="ctr">
              <a:lnSpc>
                <a:spcPts val="7000"/>
              </a:lnSpc>
            </a:pPr>
            <a:r>
              <a:rPr lang="en-US" sz="5000" b="true">
                <a:solidFill>
                  <a:srgbClr val="000000"/>
                </a:solidFill>
                <a:latin typeface="Noto Sans Bold"/>
                <a:ea typeface="Noto Sans Bold"/>
                <a:cs typeface="Noto Sans Bold"/>
                <a:sym typeface="Noto Sans Bold"/>
              </a:rPr>
              <a:t>Kết luận</a:t>
            </a:r>
          </a:p>
        </p:txBody>
      </p:sp>
      <p:sp>
        <p:nvSpPr>
          <p:cNvPr name="TextBox 6" id="6"/>
          <p:cNvSpPr txBox="true"/>
          <p:nvPr/>
        </p:nvSpPr>
        <p:spPr>
          <a:xfrm rot="0">
            <a:off x="1226634" y="3333866"/>
            <a:ext cx="16399279" cy="4186946"/>
          </a:xfrm>
          <a:prstGeom prst="rect">
            <a:avLst/>
          </a:prstGeom>
        </p:spPr>
        <p:txBody>
          <a:bodyPr anchor="t" rtlCol="false" tIns="0" lIns="0" bIns="0" rIns="0">
            <a:spAutoFit/>
          </a:bodyPr>
          <a:lstStyle/>
          <a:p>
            <a:pPr algn="l" marL="572407" indent="-286203" lvl="1">
              <a:lnSpc>
                <a:spcPts val="3711"/>
              </a:lnSpc>
              <a:buFont typeface="Arial"/>
              <a:buChar char="•"/>
            </a:pPr>
            <a:r>
              <a:rPr lang="en-US" sz="2651">
                <a:solidFill>
                  <a:srgbClr val="000000"/>
                </a:solidFill>
                <a:latin typeface="Noto Sans"/>
                <a:ea typeface="Noto Sans"/>
                <a:cs typeface="Noto Sans"/>
                <a:sym typeface="Noto Sans"/>
              </a:rPr>
              <a:t>Hoàn thiện Pipeline chuẩn hóa: Xây dựng thành công hệ thống xử lý dữ liệu tự động với ScalerRegistry, cho phép thử nghiệm nhanh nhiều chiến lược c</a:t>
            </a:r>
            <a:r>
              <a:rPr lang="en-US" sz="2651">
                <a:solidFill>
                  <a:srgbClr val="000000"/>
                </a:solidFill>
                <a:latin typeface="Noto Sans"/>
                <a:ea typeface="Noto Sans"/>
                <a:cs typeface="Noto Sans"/>
                <a:sym typeface="Noto Sans"/>
              </a:rPr>
              <a:t>huẩn hóa đặc trưng (Scaling) mà không cần viết lại code.</a:t>
            </a:r>
          </a:p>
          <a:p>
            <a:pPr algn="l" marL="572407" indent="-286203" lvl="1">
              <a:lnSpc>
                <a:spcPts val="3711"/>
              </a:lnSpc>
              <a:buFont typeface="Arial"/>
              <a:buChar char="•"/>
            </a:pPr>
            <a:r>
              <a:rPr lang="en-US" sz="2651">
                <a:solidFill>
                  <a:srgbClr val="000000"/>
                </a:solidFill>
                <a:latin typeface="Noto Sans"/>
                <a:ea typeface="Noto Sans"/>
                <a:cs typeface="Noto Sans"/>
                <a:sym typeface="Noto Sans"/>
              </a:rPr>
              <a:t>Hiệu năng thực chiến: Mô hình XGBoost kết hợp với kỹ thuật tinh chỉnh ngưỡng (Threshold Tuning) cho kết quả ấn tượng: Khi AI đạt độ tự tin trên 95%, tỷ lệ dự đoán trúng Top 3 (Precision) đạt xấp xỉ 70%.</a:t>
            </a:r>
          </a:p>
          <a:p>
            <a:pPr algn="l" marL="572407" indent="-286203" lvl="1">
              <a:lnSpc>
                <a:spcPts val="3711"/>
              </a:lnSpc>
              <a:buFont typeface="Arial"/>
              <a:buChar char="•"/>
            </a:pPr>
            <a:r>
              <a:rPr lang="en-US" sz="2651">
                <a:solidFill>
                  <a:srgbClr val="000000"/>
                </a:solidFill>
                <a:latin typeface="Noto Sans"/>
                <a:ea typeface="Noto Sans"/>
                <a:cs typeface="Noto Sans"/>
                <a:sym typeface="Noto Sans"/>
              </a:rPr>
              <a:t>Quản trị rủi ro: Hệ thống đã chứng minh được khả năng lọc bỏ những lựa chọn rủi ro thấp, giúp chuyển dịch từ cách chơi cảm tính sang đầu tư dựa trên dữ liệu (Data-driven decision making).</a:t>
            </a:r>
          </a:p>
          <a:p>
            <a:pPr algn="l">
              <a:lnSpc>
                <a:spcPts val="3711"/>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1753385" y="-223024"/>
            <a:ext cx="7315200" cy="3904488"/>
          </a:xfrm>
          <a:custGeom>
            <a:avLst/>
            <a:gdLst/>
            <a:ahLst/>
            <a:cxnLst/>
            <a:rect r="r" b="b" t="t" l="l"/>
            <a:pathLst>
              <a:path h="3904488" w="7315200">
                <a:moveTo>
                  <a:pt x="7315200" y="3904488"/>
                </a:moveTo>
                <a:lnTo>
                  <a:pt x="0" y="3904488"/>
                </a:lnTo>
                <a:lnTo>
                  <a:pt x="0" y="0"/>
                </a:lnTo>
                <a:lnTo>
                  <a:pt x="7315200" y="0"/>
                </a:lnTo>
                <a:lnTo>
                  <a:pt x="7315200" y="390448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461803" y="-890227"/>
            <a:ext cx="7674798" cy="6370082"/>
          </a:xfrm>
          <a:custGeom>
            <a:avLst/>
            <a:gdLst/>
            <a:ahLst/>
            <a:cxnLst/>
            <a:rect r="r" b="b" t="t" l="l"/>
            <a:pathLst>
              <a:path h="6370082" w="7674798">
                <a:moveTo>
                  <a:pt x="0" y="6370082"/>
                </a:moveTo>
                <a:lnTo>
                  <a:pt x="7674798" y="6370082"/>
                </a:lnTo>
                <a:lnTo>
                  <a:pt x="7674798" y="0"/>
                </a:lnTo>
                <a:lnTo>
                  <a:pt x="0" y="0"/>
                </a:lnTo>
                <a:lnTo>
                  <a:pt x="0" y="6370082"/>
                </a:lnTo>
                <a:close/>
              </a:path>
            </a:pathLst>
          </a:custGeom>
          <a:blipFill>
            <a:blip r:embed="rId4"/>
            <a:stretch>
              <a:fillRect l="0" t="0" r="0" b="0"/>
            </a:stretch>
          </a:blipFill>
        </p:spPr>
      </p:sp>
      <p:sp>
        <p:nvSpPr>
          <p:cNvPr name="Freeform 4" id="4"/>
          <p:cNvSpPr/>
          <p:nvPr/>
        </p:nvSpPr>
        <p:spPr>
          <a:xfrm flipH="false" flipV="false" rot="0">
            <a:off x="12447582" y="7520812"/>
            <a:ext cx="7903394" cy="2766188"/>
          </a:xfrm>
          <a:custGeom>
            <a:avLst/>
            <a:gdLst/>
            <a:ahLst/>
            <a:cxnLst/>
            <a:rect r="r" b="b" t="t" l="l"/>
            <a:pathLst>
              <a:path h="2766188" w="7903394">
                <a:moveTo>
                  <a:pt x="0" y="0"/>
                </a:moveTo>
                <a:lnTo>
                  <a:pt x="7903394" y="0"/>
                </a:lnTo>
                <a:lnTo>
                  <a:pt x="7903394" y="2766188"/>
                </a:lnTo>
                <a:lnTo>
                  <a:pt x="0" y="27661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7071122" y="1595870"/>
            <a:ext cx="4145756" cy="1193801"/>
          </a:xfrm>
          <a:prstGeom prst="rect">
            <a:avLst/>
          </a:prstGeom>
        </p:spPr>
        <p:txBody>
          <a:bodyPr anchor="t" rtlCol="false" tIns="0" lIns="0" bIns="0" rIns="0">
            <a:spAutoFit/>
          </a:bodyPr>
          <a:lstStyle/>
          <a:p>
            <a:pPr algn="ctr">
              <a:lnSpc>
                <a:spcPts val="9799"/>
              </a:lnSpc>
              <a:spcBef>
                <a:spcPct val="0"/>
              </a:spcBef>
            </a:pPr>
            <a:r>
              <a:rPr lang="en-US" sz="6999">
                <a:solidFill>
                  <a:srgbClr val="000000"/>
                </a:solidFill>
                <a:latin typeface="Noto Sans"/>
                <a:ea typeface="Noto Sans"/>
                <a:cs typeface="Noto Sans"/>
                <a:sym typeface="Noto Sans"/>
              </a:rPr>
              <a:t>Đóng góp</a:t>
            </a:r>
          </a:p>
        </p:txBody>
      </p:sp>
      <p:sp>
        <p:nvSpPr>
          <p:cNvPr name="TextBox 6" id="6"/>
          <p:cNvSpPr txBox="true"/>
          <p:nvPr/>
        </p:nvSpPr>
        <p:spPr>
          <a:xfrm rot="0">
            <a:off x="4794598" y="3919855"/>
            <a:ext cx="8698805" cy="2380615"/>
          </a:xfrm>
          <a:prstGeom prst="rect">
            <a:avLst/>
          </a:prstGeom>
        </p:spPr>
        <p:txBody>
          <a:bodyPr anchor="t" rtlCol="false" tIns="0" lIns="0" bIns="0" rIns="0">
            <a:spAutoFit/>
          </a:bodyPr>
          <a:lstStyle/>
          <a:p>
            <a:pPr algn="ctr">
              <a:lnSpc>
                <a:spcPts val="4759"/>
              </a:lnSpc>
            </a:pPr>
            <a:r>
              <a:rPr lang="en-US" sz="3399" b="true">
                <a:solidFill>
                  <a:srgbClr val="000000"/>
                </a:solidFill>
                <a:latin typeface="Noto Sans Bold"/>
                <a:ea typeface="Noto Sans Bold"/>
                <a:cs typeface="Noto Sans Bold"/>
                <a:sym typeface="Noto Sans Bold"/>
              </a:rPr>
              <a:t>Horses Group</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24021428 - Lê Đình Dũng: 15%</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24021604 - Lê Hồng Quân: 42.5%</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24021484 - Hà Hải Hoàng: 42.5%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DAHLDUWBSzo</dc:identifier>
  <dcterms:modified xsi:type="dcterms:W3CDTF">2011-08-01T06:04:30Z</dcterms:modified>
  <cp:revision>1</cp:revision>
  <dc:title>Xây dựng Pipeline Dự đoán Đua ngựa</dc:title>
</cp:coreProperties>
</file>